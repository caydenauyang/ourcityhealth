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6000" b="1">
                <a:solidFill>
                  <a:srgbClr val="FFFFFF"/>
                </a:solidFill>
              </a:defRPr>
            </a:pPr>
            <a:r>
              <a:t>Our City Health</a:t>
            </a:r>
          </a:p>
        </p:txBody>
      </p:sp>
      <p:sp>
        <p:nvSpPr>
          <p:cNvPr id="3" name="TextBox 2"/>
          <p:cNvSpPr txBox="1"/>
          <p:nvPr/>
        </p:nvSpPr>
        <p:spPr>
          <a:xfrm>
            <a:off x="457200" y="3383280"/>
            <a:ext cx="8229600" cy="548640"/>
          </a:xfrm>
          <a:prstGeom prst="rect">
            <a:avLst/>
          </a:prstGeom>
          <a:noFill/>
        </p:spPr>
        <p:txBody>
          <a:bodyPr wrap="none">
            <a:spAutoFit/>
          </a:bodyPr>
          <a:lstStyle/>
          <a:p>
            <a:pPr algn="ctr">
              <a:defRPr sz="2400">
                <a:solidFill>
                  <a:srgbClr val="9CA3AF"/>
                </a:solidFill>
              </a:defRPr>
            </a:pPr>
            <a:r>
              <a:t>Geo-Centric Location Intelligence for Capital Allocation Decisions</a:t>
            </a:r>
          </a:p>
        </p:txBody>
      </p:sp>
      <p:sp>
        <p:nvSpPr>
          <p:cNvPr id="4" name="TextBox 3"/>
          <p:cNvSpPr txBox="1"/>
          <p:nvPr/>
        </p:nvSpPr>
        <p:spPr>
          <a:xfrm>
            <a:off x="457200" y="4114800"/>
            <a:ext cx="8229600" cy="457200"/>
          </a:xfrm>
          <a:prstGeom prst="rect">
            <a:avLst/>
          </a:prstGeom>
          <a:noFill/>
        </p:spPr>
        <p:txBody>
          <a:bodyPr wrap="none">
            <a:spAutoFit/>
          </a:bodyPr>
          <a:lstStyle/>
          <a:p>
            <a:pPr algn="ctr">
              <a:defRPr sz="1800">
                <a:solidFill>
                  <a:srgbClr val="4ADE80"/>
                </a:solidFill>
              </a:defRPr>
            </a:pPr>
            <a:r>
              <a:t>1,000+ cities. 380,000+ sources. 12 dimensions. One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KEY SUMMARY</a:t>
            </a:r>
          </a:p>
        </p:txBody>
      </p:sp>
      <p:sp>
        <p:nvSpPr>
          <p:cNvPr id="3" name="TextBox 2"/>
          <p:cNvSpPr txBox="1"/>
          <p:nvPr/>
        </p:nvSpPr>
        <p:spPr>
          <a:xfrm>
            <a:off x="457200" y="731520"/>
            <a:ext cx="8229600" cy="548640"/>
          </a:xfrm>
          <a:prstGeom prst="rect">
            <a:avLst/>
          </a:prstGeom>
          <a:noFill/>
        </p:spPr>
        <p:txBody>
          <a:bodyPr wrap="none">
            <a:spAutoFit/>
          </a:bodyPr>
          <a:lstStyle/>
          <a:p>
            <a:pPr>
              <a:defRPr sz="3200" b="1">
                <a:solidFill>
                  <a:srgbClr val="FFFFFF"/>
                </a:solidFill>
              </a:defRPr>
            </a:pPr>
            <a:r>
              <a:t>The Missing Context Layer</a:t>
            </a:r>
          </a:p>
        </p:txBody>
      </p:sp>
      <p:sp>
        <p:nvSpPr>
          <p:cNvPr id="4" name="TextBox 3"/>
          <p:cNvSpPr txBox="1"/>
          <p:nvPr/>
        </p:nvSpPr>
        <p:spPr>
          <a:xfrm>
            <a:off x="457200" y="1463040"/>
            <a:ext cx="8229600" cy="731520"/>
          </a:xfrm>
          <a:prstGeom prst="rect">
            <a:avLst/>
          </a:prstGeom>
          <a:noFill/>
        </p:spPr>
        <p:txBody>
          <a:bodyPr wrap="square">
            <a:spAutoFit/>
          </a:bodyPr>
          <a:lstStyle/>
          <a:p>
            <a:pPr>
              <a:spcBef>
                <a:spcPts val="600"/>
              </a:spcBef>
              <a:defRPr sz="1400">
                <a:solidFill>
                  <a:srgbClr val="9CA3AF"/>
                </a:solidFill>
              </a:defRPr>
            </a:pPr>
            <a:r>
              <a:t>Real estate developers and retail site selection teams have mastered the Financial Stack and the Physical Stack. But the Social Stack remains largely unmeasured.</a:t>
            </a:r>
          </a:p>
        </p:txBody>
      </p:sp>
      <p:sp>
        <p:nvSpPr>
          <p:cNvPr id="5" name="TextBox 4"/>
          <p:cNvSpPr txBox="1"/>
          <p:nvPr/>
        </p:nvSpPr>
        <p:spPr>
          <a:xfrm>
            <a:off x="457200" y="2240280"/>
            <a:ext cx="8229600" cy="731520"/>
          </a:xfrm>
          <a:prstGeom prst="rect">
            <a:avLst/>
          </a:prstGeom>
          <a:noFill/>
        </p:spPr>
        <p:txBody>
          <a:bodyPr wrap="square">
            <a:spAutoFit/>
          </a:bodyPr>
          <a:lstStyle/>
          <a:p>
            <a:pPr>
              <a:spcBef>
                <a:spcPts val="600"/>
              </a:spcBef>
              <a:defRPr sz="1400">
                <a:solidFill>
                  <a:srgbClr val="9CA3AF"/>
                </a:solidFill>
              </a:defRPr>
            </a:pPr>
            <a:r>
              <a:t>They assess community sentiment by manual scouting of the district, like attending town hall meetings — a '1990s workflow' for billion-dollar decisions.</a:t>
            </a:r>
          </a:p>
        </p:txBody>
      </p:sp>
      <p:sp>
        <p:nvSpPr>
          <p:cNvPr id="6" name="TextBox 5"/>
          <p:cNvSpPr txBox="1"/>
          <p:nvPr/>
        </p:nvSpPr>
        <p:spPr>
          <a:xfrm>
            <a:off x="457200" y="3017520"/>
            <a:ext cx="8229600" cy="731520"/>
          </a:xfrm>
          <a:prstGeom prst="rect">
            <a:avLst/>
          </a:prstGeom>
          <a:noFill/>
        </p:spPr>
        <p:txBody>
          <a:bodyPr wrap="square">
            <a:spAutoFit/>
          </a:bodyPr>
          <a:lstStyle/>
          <a:p>
            <a:pPr>
              <a:spcBef>
                <a:spcPts val="600"/>
              </a:spcBef>
              <a:defRPr sz="1400">
                <a:solidFill>
                  <a:srgbClr val="9CA3AF"/>
                </a:solidFill>
              </a:defRPr>
            </a:pPr>
            <a:r>
              <a:t>PITCH LINE: 'Dataminr tells you when the riot starts. We tell you which neighborhood is ready to reach a tipping point 3 months in advance.'</a:t>
            </a:r>
          </a:p>
        </p:txBody>
      </p:sp>
      <p:sp>
        <p:nvSpPr>
          <p:cNvPr id="7" name="TextBox 6"/>
          <p:cNvSpPr txBox="1"/>
          <p:nvPr/>
        </p:nvSpPr>
        <p:spPr>
          <a:xfrm>
            <a:off x="457200" y="3794760"/>
            <a:ext cx="8229600" cy="731520"/>
          </a:xfrm>
          <a:prstGeom prst="rect">
            <a:avLst/>
          </a:prstGeom>
          <a:noFill/>
        </p:spPr>
        <p:txBody>
          <a:bodyPr wrap="square">
            <a:spAutoFit/>
          </a:bodyPr>
          <a:lstStyle/>
          <a:p>
            <a:pPr>
              <a:spcBef>
                <a:spcPts val="600"/>
              </a:spcBef>
              <a:defRPr sz="1400">
                <a:solidFill>
                  <a:srgbClr val="9CA3AF"/>
                </a:solidFill>
              </a:defRPr>
            </a:pPr>
            <a:r>
              <a:t>Great tools exist for Marketing (Brandwatch) and Government (Zencity). But their architecture doesn't fit private sector location risk. Brandwatch is Entity-Centric (tracks keywords). We are Geo-Centric (track locations). We fill this gap with a geo-centric, pre-built 'Civic Health Index' — giving developers and operators the ugly truth about a location before they invest.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PROBLEM</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The Entitlement Cliff</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70% of housing projects face community opposition delays costing HK$6-8M per year</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THE HARD STAT: Real estate developers conduct exhaustive physical due diligence (soil tests, traffic studies, architectural feasibility) but systematically miss the 'Social Layer' — community sentiment, political risk, and local opposition. Research shows 70% of housing projects face entitlement delays due to community opposition, costing $6-8M per year of delay.</a:t>
            </a:r>
          </a:p>
          <a:p>
            <a:pPr>
              <a:spcAft>
                <a:spcPts val="1200"/>
              </a:spcAft>
              <a:defRPr sz="1400">
                <a:solidFill>
                  <a:srgbClr val="9CA3AF"/>
                </a:solidFill>
              </a:defRPr>
            </a:pPr>
            <a:r>
              <a:t>CURRENT SOLUTION: Developers use CoStar and Esri for demographics and foot traffic. Brandwatch tracks brand mentions (entity-centric). But to assess community sentiment, teams rely on manual scouting — attending town hall meetings, talking to local officials. It's a 1990s workflow for billion-dollar decisions.</a:t>
            </a:r>
          </a:p>
          <a:p>
            <a:pPr>
              <a:spcAft>
                <a:spcPts val="1200"/>
              </a:spcAft>
              <a:defRPr sz="1400">
                <a:solidFill>
                  <a:srgbClr val="9CA3AF"/>
                </a:solidFill>
              </a:defRPr>
            </a:pPr>
            <a:r>
              <a:t>OUR SOLUTION: Run a 'Civic Health Check' across 12 dimensions for the specific city or district to quantify Entitlement Risk before bidding on the land. With 5 years of historical data, identify patterns that predict community resistance. Know if a community will fight your project before you buy the land.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PROBLEM</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The Data Freshness &amp; Context Gap</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Organizations manage billions using data that is broken in three ways: Latency, Context, and Trust</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LATENCY TAX: Organizations rely on quarterly reports or census data (24+ months lag). By the time they react, the market has shifted. Result: Bad data costs organizations $12.9M annually (Gartner).</a:t>
            </a:r>
          </a:p>
          <a:p>
            <a:pPr>
              <a:spcAft>
                <a:spcPts val="1200"/>
              </a:spcAft>
              <a:defRPr sz="1400">
                <a:solidFill>
                  <a:srgbClr val="9CA3AF"/>
                </a:solidFill>
              </a:defRPr>
            </a:pPr>
            <a:r>
              <a:t>CONTEXT GAP: Tools like Placer.ai show 'foot traffic is down 10%' but cannot explain why. Is it crime? Economy? Weather? Without the 'why,' executives cannot act. LLM Chatbots generate fresh text but lack semantic grounding, hallucinate facts, and have no audit trail.</a:t>
            </a:r>
          </a:p>
          <a:p>
            <a:pPr>
              <a:spcAft>
                <a:spcPts val="1200"/>
              </a:spcAft>
              <a:defRPr sz="1400">
                <a:solidFill>
                  <a:srgbClr val="9CA3AF"/>
                </a:solidFill>
              </a:defRPr>
            </a:pPr>
            <a:r>
              <a:t>OUR SOLUTION: Real-time + 5-year historical data with semantic AI ingestion. We don't just track 'what' (alerts) or 'where' (traffic). We explain 'why' with district-level granularity across 12 civic health dimensions, with full audit trails linking every score to specific 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PROBLEM</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The Developer/Retailer Tech Stack — And What's Broken</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Great civic intelligence tools exist — but their architecture doesn't fit private sector location risk</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PHYSICAL STACK (Placer.ai, CoStar, Esri): Tracks foot traffic, demographics, property data. → Gap: Tells you 'traffic is down' but not why. Quantitative only.</a:t>
            </a:r>
          </a:p>
          <a:p>
            <a:pPr>
              <a:spcAft>
                <a:spcPts val="1200"/>
              </a:spcAft>
              <a:defRPr sz="1400">
                <a:solidFill>
                  <a:srgbClr val="9CA3AF"/>
                </a:solidFill>
              </a:defRPr>
            </a:pPr>
            <a:r>
              <a:t>FINANCIAL STACK (Bloomberg, Refinitiv): Credit ratings, economic indicators, municipal bonds. → Gap: City-level only. No district granularity. No sentiment.</a:t>
            </a:r>
          </a:p>
          <a:p>
            <a:pPr>
              <a:spcAft>
                <a:spcPts val="1200"/>
              </a:spcAft>
              <a:defRPr sz="1400">
                <a:solidFill>
                  <a:srgbClr val="9CA3AF"/>
                </a:solidFill>
              </a:defRPr>
            </a:pPr>
            <a:r>
              <a:t>SOCIAL LAYER (Brandwatch, Zencity): Brandwatch tracks entity-centric brand mentions. Zencity tracks government policy sentiment. → Gap: Architecture mismatch — not built for geo-centric location risk.</a:t>
            </a:r>
          </a:p>
          <a:p>
            <a:pPr>
              <a:spcAft>
                <a:spcPts val="1200"/>
              </a:spcAft>
              <a:defRPr sz="1400">
                <a:solidFill>
                  <a:srgbClr val="9CA3AF"/>
                </a:solidFill>
              </a:defRPr>
            </a:pPr>
            <a:r>
              <a:t>OUR CITY HEALTH: We fill the Social Stack gap with geo-centric, district-level civic health intelligence. Pre-built 12-dimension taxonomy. No setup tax. Built for capital allocation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PROPOSED SOLUTION</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Standardized Engine for Civic Intelligence</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From 380,000+ sources → 12-dimension scores → Actionable intelligence</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INGESTION LAYER (380,000+ Sources): Global News (Reuters, AP, AFP, regional papers), Social Platforms (Reddit, X, local forums), Government Portals &amp; Municipal Data, Review Sites (Google, Yelp), Blogs, Newsletters, Telegram Channels.</a:t>
            </a:r>
          </a:p>
          <a:p>
            <a:pPr>
              <a:spcAft>
                <a:spcPts val="1200"/>
              </a:spcAft>
              <a:defRPr sz="1400">
                <a:solidFill>
                  <a:srgbClr val="9CA3AF"/>
                </a:solidFill>
              </a:defRPr>
            </a:pPr>
            <a:r>
              <a:t>THE ENGINE (Proprietary v3 Pipeline): 1) Named Entity Recognition (City/District tagging), 2) Fairness Normalization (balanced sampling per city), 3) Semantic Ingestion (LLM-powered scoring across 12 dimensions), 4) Audit Trail (full source citations).</a:t>
            </a:r>
          </a:p>
          <a:p>
            <a:pPr>
              <a:spcAft>
                <a:spcPts val="1200"/>
              </a:spcAft>
              <a:defRPr sz="1400">
                <a:solidFill>
                  <a:srgbClr val="9CA3AF"/>
                </a:solidFill>
              </a:defRPr>
            </a:pPr>
            <a:r>
              <a:t>OUTPUT: JSON API (raw data for quants), Corporate Dashboard (real-time scores, alerts, comparisons), Custom Intelligence Reports (20+ page PDFs with predictive analytics).</a:t>
            </a:r>
          </a:p>
          <a:p>
            <a:pPr>
              <a:spcAft>
                <a:spcPts val="1200"/>
              </a:spcAft>
              <a:defRPr sz="1400">
                <a:solidFill>
                  <a:srgbClr val="9CA3AF"/>
                </a:solidFill>
              </a:defRPr>
            </a:pPr>
            <a:r>
              <a:t>SEMANTIC EDGE: Traditional tools use rigid keyword filters ('crime,' 'safety'). We use semantic AI to catch implicit sentiment, sarcasm, local slang, complaints without obvious keywords, AND leverage geo-centric architecture — select coordinates, capture ALL sentiment about that location.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PROPOSED SOLUTION</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12-Dimension Civic Health Taxonomy</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Holistic assessment at city AND district level — no tool measures Community Cohesion or Cultural Vibrancy for private sector</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ESSENTIALS: Safety (crime, violence, policing), Housing (affordability, availability, stability), Economy (jobs, business climate, sentiment), Governance (trust, corruption, transparency), Transport (infrastructure, congestion, reliability), Environment (air quality, climate resilience).</a:t>
            </a:r>
          </a:p>
          <a:p>
            <a:pPr>
              <a:spcAft>
                <a:spcPts val="1200"/>
              </a:spcAft>
              <a:defRPr sz="1400">
                <a:solidFill>
                  <a:srgbClr val="9CA3AF"/>
                </a:solidFill>
              </a:defRPr>
            </a:pPr>
            <a:r>
              <a:t>LIFESTYLE: Healthcare (access, quality, satisfaction), Culture (arts, vibrancy, events, identity), Education (schools, universities, access), Technology (digital infrastructure, innovation), Community (cohesion, trust, engagement), Cost of Living (affordability index).</a:t>
            </a:r>
          </a:p>
          <a:p>
            <a:pPr>
              <a:spcAft>
                <a:spcPts val="1200"/>
              </a:spcAft>
              <a:defRPr sz="1400">
                <a:solidFill>
                  <a:srgbClr val="9CA3AF"/>
                </a:solidFill>
              </a:defRPr>
            </a:pPr>
            <a:r>
              <a:t>UNIQUENESS: No commercial tool tracks 'Cultural Vibrancy' or 'Community Cohesion' for private sector capital allocation. We are 'ZenCity for Private Enterprise' — standardized civic health intelligence across all 12 dimensions, with district-level granularity for hyper-local insights.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PROPOSED SOLUTION</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Corporate Dashboard — Real-Time Intelligence HQ</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Track unlimited cities and districts. Predict risks before they materialize.</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PORTFOLIO MANAGEMENT: Organize assets by geography ('GBA Portfolio,' 'European Expansion'). Each portfolio displays aggregate health scores and trending dimensions at city/district level.</a:t>
            </a:r>
          </a:p>
          <a:p>
            <a:pPr>
              <a:spcAft>
                <a:spcPts val="1200"/>
              </a:spcAft>
              <a:defRPr sz="1400">
                <a:solidFill>
                  <a:srgbClr val="9CA3AF"/>
                </a:solidFill>
              </a:defRPr>
            </a:pPr>
            <a:r>
              <a:t>INTELLIGENT WATCHLISTS &amp; ALERTS: Set custom thresholds ('Alert if Housing Stability &lt; 50 in District X'). Email/Dashboard/Report notifications when scores cross thresholds or anomalies detected.</a:t>
            </a:r>
          </a:p>
          <a:p>
            <a:pPr>
              <a:spcAft>
                <a:spcPts val="1200"/>
              </a:spcAft>
              <a:defRPr sz="1400">
                <a:solidFill>
                  <a:srgbClr val="9CA3AF"/>
                </a:solidFill>
              </a:defRPr>
            </a:pPr>
            <a:r>
              <a:t>MULTI-LOCATION COMPARISON: Compare multiple cities and districts side-by-side across all 12 dimensions. Identify which location offers the best risk-adjusted opportunity.</a:t>
            </a:r>
          </a:p>
          <a:p>
            <a:pPr>
              <a:spcAft>
                <a:spcPts val="1200"/>
              </a:spcAft>
              <a:defRPr sz="1400">
                <a:solidFill>
                  <a:srgbClr val="9CA3AF"/>
                </a:solidFill>
              </a:defRPr>
            </a:pPr>
            <a:r>
              <a:t>PREDICTIVE ANALYTICS ENGINE: With 5 years of historical data per city/district, identify patterns that predict future shifts. Connect to Custom Intelligence Reports for deeper analysis. Example: 'What leading indicators preceded the last 3 economic sentiment drops in Kuala Lumpur? Will District Y face similar trajectory?'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PROPOSED SOLUTION</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Custom Intelligence Reports — Deep-Dive Analysis</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Two report types: Predictive + Analytical. 20+ pages. Full citations. 5-7 day turnaround.</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PREDICTIVE REPORTS: 1) Market Entry Forecast (assess city/district readiness for new project), 2) Trajectory Benchmarking (compare recovery timelines across peer cities/districts). Use Case: 'Should we enter District X in Jakarta? Compare against similar markets.'</a:t>
            </a:r>
          </a:p>
          <a:p>
            <a:pPr>
              <a:spcAft>
                <a:spcPts val="1200"/>
              </a:spcAft>
              <a:defRPr sz="1400">
                <a:solidFill>
                  <a:srgbClr val="9CA3AF"/>
                </a:solidFill>
              </a:defRPr>
            </a:pPr>
            <a:r>
              <a:t>ANALYTICAL REPORTS: Crisis/Event Analysis (what happened and why sentiment shifted), Recovery Timeline Mapping (how long until city/district recovers to baseline). Use Case: 'Tokyo had protests last quarter. What dimensions degraded? When will it recover?'</a:t>
            </a:r>
          </a:p>
          <a:p>
            <a:pPr>
              <a:spcAft>
                <a:spcPts val="1200"/>
              </a:spcAft>
              <a:defRPr sz="1400">
                <a:solidFill>
                  <a:srgbClr val="9CA3AF"/>
                </a:solidFill>
              </a:defRPr>
            </a:pPr>
            <a:r>
              <a:t>DELIVERY: AI Chatbot-guided scope definition → Our team conducts analysis → 20+ page PDF report with full citations, historical trends, peer comparisons, and actionable recommendations. 5-7 day turnaround.</a:t>
            </a:r>
          </a:p>
          <a:p>
            <a:pPr>
              <a:spcAft>
                <a:spcPts val="1200"/>
              </a:spcAft>
              <a:defRPr sz="1400">
                <a:solidFill>
                  <a:srgbClr val="9CA3AF"/>
                </a:solidFill>
              </a:defRPr>
            </a:pPr>
            <a:r>
              <a:t>AUDITABILITY: Every claim in the report links back to specific sources. No hallucinations. No 'black box.' Full transparency for audit-ready decision-making.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PROPOSED SOLUTION</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Current Progress — Proof of Concept</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Prototype demonstrates select elements. Architecture validated. Ready to scale.</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INTERACTIVE 3D GLOBE INTERFACE: Visualize 100+ cities with live data ingestion network. Goal: Enable zooming into district level, displaying scores for all 12 dimensions at district-level granularity.</a:t>
            </a:r>
          </a:p>
          <a:p>
            <a:pPr>
              <a:spcAft>
                <a:spcPts val="1200"/>
              </a:spcAft>
              <a:defRPr sz="1400">
                <a:solidFill>
                  <a:srgbClr val="9CA3AF"/>
                </a:solidFill>
              </a:defRPr>
            </a:pPr>
            <a:r>
              <a:t>CORPORATE INTELLIGENCE DASHBOARD: Sample interface demonstrating custom portfolios, alerts, and basic multi-city comparisons. Goal: Add district-level tracking, predictive analytics, and full multi-location comparison with PDF exports.</a:t>
            </a:r>
          </a:p>
          <a:p>
            <a:pPr>
              <a:spcAft>
                <a:spcPts val="1200"/>
              </a:spcAft>
              <a:defRPr sz="1400">
                <a:solidFill>
                  <a:srgbClr val="9CA3AF"/>
                </a:solidFill>
              </a:defRPr>
            </a:pPr>
            <a:r>
              <a:t>UNIVERSAL SCRAPING ENGINE: Prototype scraping hundreds of news outlets and Reddit. Goal: Scale to 380,000+ sources (news APIs, social platforms, regional forums, government portals) with semantic ingestion and fairness normalization.</a:t>
            </a:r>
          </a:p>
          <a:p>
            <a:pPr>
              <a:spcAft>
                <a:spcPts val="1200"/>
              </a:spcAft>
              <a:defRPr sz="1400">
                <a:solidFill>
                  <a:srgbClr val="9CA3AF"/>
                </a:solidFill>
              </a:defRPr>
            </a:pPr>
            <a:r>
              <a:t>STATUS: This is a prototype demonstrating POC for select elements. Scaling to 1,000+ cities with 380,000+ sources and full predictive analytics capabilities will require compute resources, architectural refinements, and team expansion.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MARKET OPPORTUNITY</a:t>
            </a:r>
          </a:p>
        </p:txBody>
      </p:sp>
      <p:sp>
        <p:nvSpPr>
          <p:cNvPr id="3" name="TextBox 2"/>
          <p:cNvSpPr txBox="1"/>
          <p:nvPr/>
        </p:nvSpPr>
        <p:spPr>
          <a:xfrm>
            <a:off x="457200" y="731520"/>
            <a:ext cx="8229600" cy="548640"/>
          </a:xfrm>
          <a:prstGeom prst="rect">
            <a:avLst/>
          </a:prstGeom>
          <a:noFill/>
        </p:spPr>
        <p:txBody>
          <a:bodyPr wrap="none">
            <a:spAutoFit/>
          </a:bodyPr>
          <a:lstStyle/>
          <a:p>
            <a:pPr>
              <a:defRPr sz="3200" b="1">
                <a:solidFill>
                  <a:srgbClr val="FFFFFF"/>
                </a:solidFill>
              </a:defRPr>
            </a:pPr>
            <a:r>
              <a:t>Commercial Risk Intelligence</a:t>
            </a:r>
          </a:p>
        </p:txBody>
      </p:sp>
      <p:sp>
        <p:nvSpPr>
          <p:cNvPr id="4" name="TextBox 3"/>
          <p:cNvSpPr txBox="1"/>
          <p:nvPr/>
        </p:nvSpPr>
        <p:spPr>
          <a:xfrm>
            <a:off x="457200" y="1463040"/>
            <a:ext cx="8229600" cy="731520"/>
          </a:xfrm>
          <a:prstGeom prst="rect">
            <a:avLst/>
          </a:prstGeom>
          <a:noFill/>
        </p:spPr>
        <p:txBody>
          <a:bodyPr wrap="square">
            <a:spAutoFit/>
          </a:bodyPr>
          <a:lstStyle/>
          <a:p>
            <a:pPr>
              <a:spcBef>
                <a:spcPts val="600"/>
              </a:spcBef>
              <a:defRPr sz="1400">
                <a:solidFill>
                  <a:srgbClr val="9CA3AF"/>
                </a:solidFill>
              </a:defRPr>
            </a:pPr>
            <a:r>
              <a:t>TAM (Total Addressable Market): $34 Billion — Global Real Estate &amp; Retail Analytics Market (Grand View Research, 2025).</a:t>
            </a:r>
          </a:p>
        </p:txBody>
      </p:sp>
      <p:sp>
        <p:nvSpPr>
          <p:cNvPr id="5" name="TextBox 4"/>
          <p:cNvSpPr txBox="1"/>
          <p:nvPr/>
        </p:nvSpPr>
        <p:spPr>
          <a:xfrm>
            <a:off x="457200" y="2240280"/>
            <a:ext cx="8229600" cy="731520"/>
          </a:xfrm>
          <a:prstGeom prst="rect">
            <a:avLst/>
          </a:prstGeom>
          <a:noFill/>
        </p:spPr>
        <p:txBody>
          <a:bodyPr wrap="square">
            <a:spAutoFit/>
          </a:bodyPr>
          <a:lstStyle/>
          <a:p>
            <a:pPr>
              <a:spcBef>
                <a:spcPts val="600"/>
              </a:spcBef>
              <a:defRPr sz="1400">
                <a:solidFill>
                  <a:srgbClr val="9CA3AF"/>
                </a:solidFill>
              </a:defRPr>
            </a:pPr>
            <a:r>
              <a:t>SAM (Serviceable Addressable Market): $8.2 Billion — APAC &amp; North America Site Selection Tools &amp; Location Intelligence Platforms.</a:t>
            </a:r>
          </a:p>
        </p:txBody>
      </p:sp>
      <p:sp>
        <p:nvSpPr>
          <p:cNvPr id="6" name="TextBox 5"/>
          <p:cNvSpPr txBox="1"/>
          <p:nvPr/>
        </p:nvSpPr>
        <p:spPr>
          <a:xfrm>
            <a:off x="457200" y="3017520"/>
            <a:ext cx="8229600" cy="731520"/>
          </a:xfrm>
          <a:prstGeom prst="rect">
            <a:avLst/>
          </a:prstGeom>
          <a:noFill/>
        </p:spPr>
        <p:txBody>
          <a:bodyPr wrap="square">
            <a:spAutoFit/>
          </a:bodyPr>
          <a:lstStyle/>
          <a:p>
            <a:pPr>
              <a:spcBef>
                <a:spcPts val="600"/>
              </a:spcBef>
              <a:defRPr sz="1400">
                <a:solidFill>
                  <a:srgbClr val="9CA3AF"/>
                </a:solidFill>
              </a:defRPr>
            </a:pPr>
            <a:r>
              <a:t>SOM (Serviceable Obtainable Market): $120 Million — Year 3 Target. Focus: Mid-size developers (overseas expansion), regional F&amp;B chains, domestic P&amp;C insurers, government smart city initiatives.</a:t>
            </a:r>
          </a:p>
        </p:txBody>
      </p:sp>
      <p:sp>
        <p:nvSpPr>
          <p:cNvPr id="7" name="TextBox 6"/>
          <p:cNvSpPr txBox="1"/>
          <p:nvPr/>
        </p:nvSpPr>
        <p:spPr>
          <a:xfrm>
            <a:off x="457200" y="3794760"/>
            <a:ext cx="8229600" cy="731520"/>
          </a:xfrm>
          <a:prstGeom prst="rect">
            <a:avLst/>
          </a:prstGeom>
          <a:noFill/>
        </p:spPr>
        <p:txBody>
          <a:bodyPr wrap="square">
            <a:spAutoFit/>
          </a:bodyPr>
          <a:lstStyle/>
          <a:p>
            <a:pPr>
              <a:spcBef>
                <a:spcPts val="600"/>
              </a:spcBef>
              <a:defRPr sz="1400">
                <a:solidFill>
                  <a:srgbClr val="9CA3AF"/>
                </a:solidFill>
              </a:defRPr>
            </a:pPr>
            <a:r>
              <a:t>BEACHHEAD: Real Estate (Land Acquisition Teams) + Retail (Site Selection Committees). These customers have the highest pain (multi-million dollar mistakes) and the budget to pay for solutions.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MARKET OPPORTUNITY</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Target Customers — Prioritized</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Starting with Physical Asset Owners, expanding to Insurance, Government, and future Financial Markets</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TIER 1 — PRIMARY ANCHOR: Commercial Real Estate (Land Acquisition Teams). Pain: Entitlement Risk &amp; NIMBY Opposition. 70% of housing projects face delays costing $6-8M/year. Current Solution: CoStar/Esri (demographics only), Brandwatch (brand-focused, not location-focused), manual town hall meetings. Our Value: Run a 'civic health check' across 12 dimensions for the specific city or district to quantify Entitlement Risk before bidding.</a:t>
            </a:r>
          </a:p>
          <a:p>
            <a:pPr>
              <a:spcAft>
                <a:spcPts val="1200"/>
              </a:spcAft>
              <a:defRPr sz="1400">
                <a:solidFill>
                  <a:srgbClr val="9CA3AF"/>
                </a:solidFill>
              </a:defRPr>
            </a:pPr>
            <a:r>
              <a:t>TIER 1 — GROWTH MARKET: Retail &amp; QSR Site Selection (Regional F&amp;B Chains, CPG International Expansion). Pain: Site Selection Failure. Retailers lose $209,317/month from a bad store location. 41% of retail businesses fail within first 5 years, often due to poor site selection. Current Solution: Placer.ai (foot traffic only), Brandwatch (brand mentions, not location sentiment), manual 'site walks.' Our Value: Run a 'civic health check' across 12 dimensions for the specific city or district. Explain why foot traffic trends change. Predict which districts will outperform.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MARKET OPPORTUNITY</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Target Customers — Scale Markets</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Insurance, Logistics/Corporate Security, and Government expand addressable market</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TIER 2 — SCALE MARKET: P&amp;C Insurance (Domestic Mid-Sized Property &amp; Casualty Insurers). Pain: Parametric Risk Modeling. Insurers need real-time civic health data to adjust premiums dynamically (e.g., if Governance Trust collapses, riot risk increases). Our Value: Live Civic Health Scores for property risk pricing. Track which districts are degrading across Safety, Governance, Environment dimensions.</a:t>
            </a:r>
          </a:p>
          <a:p>
            <a:pPr>
              <a:spcAft>
                <a:spcPts val="1200"/>
              </a:spcAft>
              <a:defRPr sz="1400">
                <a:solidFill>
                  <a:srgbClr val="9CA3AF"/>
                </a:solidFill>
              </a:defRPr>
            </a:pPr>
            <a:r>
              <a:t>TIER 2 — SCALE MARKET: Logistics &amp; Corporate Security (CSOs, Supply Chain Directors). Pain: Static risk reports miss real-time labor unrest or anti-foreign sentiment. Our Value: Live risk monitoring for shipping hubs and executive travel destinations. Alert when civic health dimensions (Safety, Governance, Economy) cross thresholds.</a:t>
            </a:r>
          </a:p>
          <a:p>
            <a:pPr>
              <a:spcAft>
                <a:spcPts val="1200"/>
              </a:spcAft>
              <a:defRPr sz="1400">
                <a:solidFill>
                  <a:srgbClr val="9CA3AF"/>
                </a:solidFill>
              </a:defRPr>
            </a:pPr>
            <a:r>
              <a:t>TIER 2 — SCALE MARKET: Government &amp; Smart City (Policy Teams, Urban Planners). Pain: Policy impact measurement &amp; benchmarking. Our Value: Measure policy effectiveness in real-time. Identify emerging issues before escalation, and benchmark against peer cities or districts. (Validates product legitimacy for private sector.)</a:t>
            </a:r>
          </a:p>
          <a:p>
            <a:pPr>
              <a:spcAft>
                <a:spcPts val="1200"/>
              </a:spcAft>
              <a:defRPr sz="1400">
                <a:solidFill>
                  <a:srgbClr val="9CA3AF"/>
                </a:solidFill>
              </a:defRPr>
            </a:pPr>
            <a:r>
              <a:t>PHASE 2 — FUTURE HORIZON: Quantitative Trading (Hedge Funds, Macro Funds). Pain: Need leading indicators for municipal bonds, currencies, commodities. Our Value: Standardized Civic Health Index as tradeable data feed. Target: Mid-size funds ($100-500M AUM) that cannot afford to build large proprietary datasets.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MARKET OPPORTUNITY</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Hong Kong &amp; GBA as Launch Market</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Local SMEs expanding overseas — leveraging HKSTP ecosystem for warm access</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THE OPPORTUNITY: Hong Kong and GBA-based small-to-medium enterprises (SMEs) are expanding globally. They need location intelligence for new markets where they lack local knowledge.</a:t>
            </a:r>
          </a:p>
          <a:p>
            <a:pPr>
              <a:spcAft>
                <a:spcPts val="1200"/>
              </a:spcAft>
              <a:defRPr sz="1400">
                <a:solidFill>
                  <a:srgbClr val="9CA3AF"/>
                </a:solidFill>
              </a:defRPr>
            </a:pPr>
            <a:r>
              <a:t>OUR ADVANTAGE: These companies are already in the HKSTP ecosystem — providing immediate, warm access to first customers. They trust the HKSTP brand and are actively seeking tools to de-risk international expansion.</a:t>
            </a:r>
          </a:p>
          <a:p>
            <a:pPr>
              <a:spcAft>
                <a:spcPts val="1200"/>
              </a:spcAft>
              <a:defRPr sz="1400">
                <a:solidFill>
                  <a:srgbClr val="9CA3AF"/>
                </a:solidFill>
              </a:defRPr>
            </a:pPr>
            <a:r>
              <a:t>USE CASES: HK-based F&amp;B chain expanding to Southeast Asia → Need civic health insights for site selection in Bangkok, Manila, Jakarta. GBA manufacturer evaluating logistics hubs in emerging markets → Need real-time risk monitoring for supply chain stability. Mid-size HK developer exploring overseas land acquisition → Need Entitlement Risk assessment for new cities.</a:t>
            </a:r>
          </a:p>
          <a:p>
            <a:pPr>
              <a:spcAft>
                <a:spcPts val="1200"/>
              </a:spcAft>
              <a:defRPr sz="1400">
                <a:solidFill>
                  <a:srgbClr val="9CA3AF"/>
                </a:solidFill>
              </a:defRPr>
            </a:pPr>
            <a:r>
              <a:t>GOVERNMENT ANGLE: Hong Kong government (Innovation and Technology Bureau, Trade and Development Council) seeks tools to support local SMEs' global expansion. Our City Health aligns with 'Smart City Blueprint' and 'Greater Bay Area Development' strategic priorities.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COMPETITIVE ANALYSIS</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We Don't Replace — We Complete</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Great civic intelligence tools exist, but their architecture doesn't fit private sector location risk</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COMPARISON TABLE: Our City Health vs. Alert Platforms (Dataminir, Placer.ai) vs. Civic/Marketing Platforms (Zencity, Brandwatch, Meltwater) vs. GenAI Wrappers (Custom GPTs, Claude Projects) vs. Consultancies (McKinsey, Deloitte).</a:t>
            </a:r>
          </a:p>
          <a:p>
            <a:pPr>
              <a:spcAft>
                <a:spcPts val="1200"/>
              </a:spcAft>
              <a:defRPr sz="1400">
                <a:solidFill>
                  <a:srgbClr val="9CA3AF"/>
                </a:solidFill>
              </a:defRPr>
            </a:pPr>
            <a:r>
              <a:t>OUTPUT TYPE: We provide Structured Database + Alerts + PDF Reports. Competitors provide only one output type.</a:t>
            </a:r>
          </a:p>
          <a:p>
            <a:pPr>
              <a:spcAft>
                <a:spcPts val="1200"/>
              </a:spcAft>
              <a:defRPr sz="1400">
                <a:solidFill>
                  <a:srgbClr val="9CA3AF"/>
                </a:solidFill>
              </a:defRPr>
            </a:pPr>
            <a:r>
              <a:t>TIME HORIZON: We provide Real-time + 5-year history. Alert platforms are real-time only. Consultancies lag 6-12 months. GenAI has no memory.</a:t>
            </a:r>
          </a:p>
          <a:p>
            <a:pPr>
              <a:spcAft>
                <a:spcPts val="1200"/>
              </a:spcAft>
              <a:defRPr sz="1400">
                <a:solidFill>
                  <a:srgbClr val="9CA3AF"/>
                </a:solidFill>
              </a:defRPr>
            </a:pPr>
            <a:r>
              <a:t>GRANULARITY: We provide City + District level. Alert platforms are incident/store level. Civic/Marketing platforms are entity-centric (track keywords, not locations).</a:t>
            </a:r>
          </a:p>
          <a:p>
            <a:pPr>
              <a:spcAft>
                <a:spcPts val="1200"/>
              </a:spcAft>
              <a:defRPr sz="1400">
                <a:solidFill>
                  <a:srgbClr val="9CA3AF"/>
                </a:solidFill>
              </a:defRPr>
            </a:pPr>
            <a:r>
              <a:t>INSIGHT LEVEL: We provide 'Why' (explanatory) + Predictions. Alert platforms provide 'What/Where' (reactive). Civic/Marketing platforms provide 'What' sentiment (but wrong architecture). GenAI is creative but unreliable. Consultancies provide 'Why' but lagging.</a:t>
            </a:r>
          </a:p>
          <a:p>
            <a:pPr>
              <a:spcAft>
                <a:spcPts val="1200"/>
              </a:spcAft>
              <a:defRPr sz="1400">
                <a:solidFill>
                  <a:srgbClr val="9CA3AF"/>
                </a:solidFill>
              </a:defRPr>
            </a:pPr>
            <a:r>
              <a:t>AUDIT READY: We provide full citations. Alert platforms provide partial. GenAI hallucinates. Consultancies provide citations but outdated.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COMPETITIVE ANALYSIS</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Why Their Architecture Doesn't Fit Private Sector Location Risk</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Three fundamental mismatches: Entity vs. Geo-Centric, Setup Tax, Government vs. Developer Tool</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ENTITY-CENTRIC VS. GEO-CENTRIC: Brandwatch is Entity-Centric — you give it a keyword ('Starbucks'), it tracks mentions. Problem: Misses environmental risks unrelated to the brand. Our City Health is Geo-Centric — you select coordinates (latitude/longitude), we capture ALL sentiment about that location (crime, housing, governance, economy) across 12 dimensions. Use Case: Developer assessing a plot of land doesn't care about 'Starbucks' mentions. They care about whether the district itself is hostile to new development.</a:t>
            </a:r>
          </a:p>
          <a:p>
            <a:pPr>
              <a:spcAft>
                <a:spcPts val="1200"/>
              </a:spcAft>
              <a:defRPr sz="1400">
                <a:solidFill>
                  <a:srgbClr val="9CA3AF"/>
                </a:solidFill>
              </a:defRPr>
            </a:pPr>
            <a:r>
              <a:t>THE SETUP TAX: Brandwatch requires manual query setup (define keywords, Boolean logic, filters) for each new location. Cost: Days of analyst time per city. Our City Health has a pre-built taxonomy. No setup. Instant insights for 1,000+ cities and districts. Cost: Zero setup time.</a:t>
            </a:r>
          </a:p>
          <a:p>
            <a:pPr>
              <a:spcAft>
                <a:spcPts val="1200"/>
              </a:spcAft>
              <a:defRPr sz="1400">
                <a:solidFill>
                  <a:srgbClr val="9CA3AF"/>
                </a:solidFill>
              </a:defRPr>
            </a:pPr>
            <a:r>
              <a:t>GOVERNMENT TOOL ≠ DEVELOPER TOOL: Zencity measures policy sentiment for governments (e.g., 'Are residents satisfied with the new bus route?'). Problem: Governments need to understand policy approval. Developers need to assess Entitlement Risk. Our City Health quantifies community opposition likelihood, historical resistance patterns, and predictive indicators for project delays. Built for capital allocation decisions, not policy feedback.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COMPETITIVE ANALYSIS</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What Each Tool Can Answer — Feature Comparison</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We provide the full stack: Detection + Quantification + Explanation + Prediction</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'How many people are here?' → Placer.ai ✓ | Dataminr ✗ | Zencity ✗ | Brandwatch ✗ | Our City Health ✓</a:t>
            </a:r>
          </a:p>
          <a:p>
            <a:pPr>
              <a:spcAft>
                <a:spcPts val="1200"/>
              </a:spcAft>
              <a:defRPr sz="1400">
                <a:solidFill>
                  <a:srgbClr val="9CA3AF"/>
                </a:solidFill>
              </a:defRPr>
            </a:pPr>
            <a:r>
              <a:t>'Did a disaster just happen?' → Placer.ai ✗ | Dataminr ✓ | Zencity Partial | Brandwatch Partial | Our City Health ✓</a:t>
            </a:r>
          </a:p>
          <a:p>
            <a:pPr>
              <a:spcAft>
                <a:spcPts val="1200"/>
              </a:spcAft>
              <a:defRPr sz="1400">
                <a:solidFill>
                  <a:srgbClr val="9CA3AF"/>
                </a:solidFill>
              </a:defRPr>
            </a:pPr>
            <a:r>
              <a:t>'Is this location economically stable?' → Placer.ai ✗ | Dataminir ✗ | Zencity Partial | Brandwatch ✗ | Our City Health ✓</a:t>
            </a:r>
          </a:p>
          <a:p>
            <a:pPr>
              <a:spcAft>
                <a:spcPts val="1200"/>
              </a:spcAft>
              <a:defRPr sz="1400">
                <a:solidFill>
                  <a:srgbClr val="9CA3AF"/>
                </a:solidFill>
              </a:defRPr>
            </a:pPr>
            <a:r>
              <a:t>'Why are people avoiding this district?' → Placer.ai ✗ | Dataminr ✗ | Zencity ✗ | Brandwatch ✗ | Our City Health ✓</a:t>
            </a:r>
          </a:p>
          <a:p>
            <a:pPr>
              <a:spcAft>
                <a:spcPts val="1200"/>
              </a:spcAft>
              <a:defRPr sz="1400">
                <a:solidFill>
                  <a:srgbClr val="9CA3AF"/>
                </a:solidFill>
              </a:defRPr>
            </a:pPr>
            <a:r>
              <a:t>'Will this community oppose my project?' → Placer.ai ✗ | Dataminir ✗ | Zencity ✗ | Brandwatch ✗ | Our City Health ✓</a:t>
            </a:r>
          </a:p>
          <a:p>
            <a:pPr>
              <a:spcAft>
                <a:spcPts val="1200"/>
              </a:spcAft>
              <a:defRPr sz="1400">
                <a:solidFill>
                  <a:srgbClr val="9CA3AF"/>
                </a:solidFill>
              </a:defRPr>
            </a:pPr>
            <a:r>
              <a:t>KEY INSIGHT: Alert Platforms detect events. Civic/Marketing Platforms track sentiment (wrong architecture). We provide geo-centric, district-level civic health intelligence with predictive analytics built for capital allocation decisions. There are great tools for brand monitoring (Brandwatch) and great tools for government policy (Zencity). But if you're a Developer wondering if you should buy a $50M plot of land, their architecture doesn't fit. Brandwatch tracks keywords. We track coordinates. That's the difference.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BUSINESS MODEL &amp; MILESTONES</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Scalable DaaS (Data-as-a-Service) Engine</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All prices in Hong Kong Dollars (HKD)</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FREE TIER (Explorer): 100 cities (city-level only), Basic portfolios, Basic multi-city comparison, No custom reports, No alerts, Community support.</a:t>
            </a:r>
          </a:p>
          <a:p>
            <a:pPr>
              <a:spcAft>
                <a:spcPts val="1200"/>
              </a:spcAft>
              <a:defRPr sz="1400">
                <a:solidFill>
                  <a:srgbClr val="9CA3AF"/>
                </a:solidFill>
              </a:defRPr>
            </a:pPr>
            <a:r>
              <a:t>HK$1,500/month (Professional): Unlimited cities, 5 cities with district-level scores, Email alerts for 5 selected cities/districts, Basic custom multi-city comparison, Basic predictive analytics (dashboard only, no PDF reports), Priority support.</a:t>
            </a:r>
          </a:p>
          <a:p>
            <a:pPr>
              <a:spcAft>
                <a:spcPts val="1200"/>
              </a:spcAft>
              <a:defRPr sz="1400">
                <a:solidFill>
                  <a:srgbClr val="9CA3AF"/>
                </a:solidFill>
              </a:defRPr>
            </a:pPr>
            <a:r>
              <a:t>HK$50,000/year (Enterprise): Unlimited cities, Unlimited district-level scores, Custom Intelligence Reports (20+ pages, predictive + analytical), Full dashboard features (portfolios, alerts, comparisons, predictions), Limited API usage (rate-limited), Dedicated Customer Success Manager.</a:t>
            </a:r>
          </a:p>
          <a:p>
            <a:pPr>
              <a:spcAft>
                <a:spcPts val="1200"/>
              </a:spcAft>
              <a:defRPr sz="1400">
                <a:solidFill>
                  <a:srgbClr val="9CA3AF"/>
                </a:solidFill>
              </a:defRPr>
            </a:pPr>
            <a:r>
              <a:t>HK$100,000/year (Data License): Everything in Enterprise + Full API firehose (unlimited calls), All cities and districts, White-label option, Dedicated CSM, Priority feature requests.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BUSINESS MODEL &amp; MILESTONES</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12-Month Execution Roadmap</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Q1: Scale infrastructure. Q2: Solidify product. Q3: Beta launch. Q4: Commercial availability.</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Q1 — INFRASTRUCTURE &amp; SCALE: Expand to 1,000 cities. Scale data ingestion to 380,000+ sources (GDELT, NewsAPI, Reddit API, X API, government portals). Develop predictive analytics model. Migrate to cloud cluster (GPU inference). Target: Prototype → Production-ready pipeline.</a:t>
            </a:r>
          </a:p>
          <a:p>
            <a:pPr>
              <a:spcAft>
                <a:spcPts val="1200"/>
              </a:spcAft>
              <a:defRPr sz="1400">
                <a:solidFill>
                  <a:srgbClr val="9CA3AF"/>
                </a:solidFill>
              </a:defRPr>
            </a:pPr>
            <a:r>
              <a:t>Q2 — DATA DEPTH &amp; VALIDATION: Launch Corporate Dashboard v1.0 with district-level tracking, portfolios, alerts, and comparisons. Test Custom Intelligence Reports with 2 pilot clients. Solidify predictive analytics capabilities. Target: Product-market fit validation.</a:t>
            </a:r>
          </a:p>
          <a:p>
            <a:pPr>
              <a:spcAft>
                <a:spcPts val="1200"/>
              </a:spcAft>
              <a:defRPr sz="1400">
                <a:solidFill>
                  <a:srgbClr val="9CA3AF"/>
                </a:solidFill>
              </a:defRPr>
            </a:pPr>
            <a:r>
              <a:t>Q3 — COMMERCIAL BETA: Launch API + Dashboard Beta. Outreach to 20 organizations (developers, retailers, insurers). Refine product based on feedback. Target: 10 active beta users.</a:t>
            </a:r>
          </a:p>
          <a:p>
            <a:pPr>
              <a:spcAft>
                <a:spcPts val="1200"/>
              </a:spcAft>
              <a:defRPr sz="1400">
                <a:solidFill>
                  <a:srgbClr val="9CA3AF"/>
                </a:solidFill>
              </a:defRPr>
            </a:pPr>
            <a:r>
              <a:t>Q4 — FULL COMMERCIAL AVAILABILITY: Public launch. Sign 5+ paid pilot contracts (Target: Real Estate, Retail, Insurance). Revenue generation begins. Target: $120K ARR by end of Q4.</a:t>
            </a:r>
          </a:p>
          <a:p>
            <a:pPr>
              <a:spcAft>
                <a:spcPts val="1200"/>
              </a:spcAft>
              <a:defRPr sz="1400">
                <a:solidFill>
                  <a:srgbClr val="9CA3AF"/>
                </a:solidFill>
              </a:defRPr>
            </a:pPr>
            <a:r>
              <a:t>OPERATIONAL COSTS: Data Infrastructure: GDELT ($0, open), NewsAPI (~HK$3,500/mo), Reddit API ($4,680/mo), X API ($33,540/mo), Gov't Data ($0, open). Compute/LLM: OpenAI API (~$1,560-$3,900/mo for scoring 1,000 cities daily), AWS/GCP GPU ($3,900-$7,800/mo). Total: ~HK$47K-$53K/month at scale. Pricing justified by ROI: Single avoided project delay saves $6-8M.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CORE TEAM</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AI-Native Founder with High Technical Velocity</a:t>
            </a:r>
          </a:p>
        </p:txBody>
      </p:sp>
      <p:sp>
        <p:nvSpPr>
          <p:cNvPr id="4" name="TextBox 3"/>
          <p:cNvSpPr txBox="1"/>
          <p:nvPr/>
        </p:nvSpPr>
        <p:spPr>
          <a:xfrm>
            <a:off x="457200" y="1371600"/>
            <a:ext cx="8229600" cy="5029200"/>
          </a:xfrm>
          <a:prstGeom prst="rect">
            <a:avLst/>
          </a:prstGeom>
          <a:noFill/>
        </p:spPr>
        <p:txBody>
          <a:bodyPr wrap="square">
            <a:spAutoFit/>
          </a:bodyPr>
          <a:lstStyle/>
          <a:p>
            <a:pPr>
              <a:spcAft>
                <a:spcPts val="600"/>
              </a:spcAft>
              <a:defRPr sz="1600" b="1">
                <a:solidFill>
                  <a:srgbClr val="4ADE80"/>
                </a:solidFill>
              </a:defRPr>
            </a:pPr>
            <a:r>
              <a:t>CAYDEN AUYANG — Architect &amp; Founder</a:t>
            </a:r>
          </a:p>
          <a:p>
            <a:pPr>
              <a:spcAft>
                <a:spcPts val="600"/>
              </a:spcAft>
              <a:defRPr sz="1000">
                <a:solidFill>
                  <a:srgbClr val="9CA3AF"/>
                </a:solidFill>
              </a:defRPr>
            </a:pPr>
          </a:p>
          <a:p>
            <a:pPr>
              <a:spcAft>
                <a:spcPts val="600"/>
              </a:spcAft>
              <a:defRPr sz="1000">
                <a:solidFill>
                  <a:srgbClr val="9CA3AF"/>
                </a:solidFill>
              </a:defRPr>
            </a:pPr>
            <a:r>
              <a:t>Education: Pomfret School (Head of School Scholar - Highest Academic Award)</a:t>
            </a:r>
          </a:p>
          <a:p>
            <a:pPr>
              <a:spcAft>
                <a:spcPts val="600"/>
              </a:spcAft>
              <a:defRPr sz="1000">
                <a:solidFill>
                  <a:srgbClr val="9CA3AF"/>
                </a:solidFill>
              </a:defRPr>
            </a:pPr>
            <a:r>
              <a:t>Based: Hong Kong / Connecticut, USA | Languages: English/Cantonese (Native), Mandarin (Fluent), Spanish (Conversational)</a:t>
            </a:r>
          </a:p>
          <a:p>
            <a:pPr>
              <a:spcAft>
                <a:spcPts val="600"/>
              </a:spcAft>
              <a:defRPr sz="1000">
                <a:solidFill>
                  <a:srgbClr val="9CA3AF"/>
                </a:solidFill>
              </a:defRPr>
            </a:pPr>
            <a:r>
              <a:t>Contact: caydenauyang@gmail.com | +852 9260 9370 | github.com/CaydenAuyang</a:t>
            </a:r>
          </a:p>
          <a:p>
            <a:pPr>
              <a:spcAft>
                <a:spcPts val="600"/>
              </a:spcAft>
              <a:defRPr sz="1000">
                <a:solidFill>
                  <a:srgbClr val="9CA3AF"/>
                </a:solidFill>
              </a:defRPr>
            </a:pPr>
          </a:p>
          <a:p>
            <a:pPr>
              <a:spcAft>
                <a:spcPts val="600"/>
              </a:spcAft>
              <a:defRPr sz="1100" b="1">
                <a:solidFill>
                  <a:srgbClr val="FFFFFF"/>
                </a:solidFill>
              </a:defRPr>
            </a:pPr>
            <a:r>
              <a:t>Professional Experience:</a:t>
            </a:r>
          </a:p>
          <a:p>
            <a:pPr>
              <a:spcAft>
                <a:spcPts val="600"/>
              </a:spcAft>
              <a:defRPr sz="1000">
                <a:solidFill>
                  <a:srgbClr val="9CA3AF"/>
                </a:solidFill>
              </a:defRPr>
            </a:pPr>
            <a:r>
              <a:t>• Civic AI Group — Founder &amp; President: Founded school-wide group with 20+ students and advisors. Developed the core 12-dimension civic health taxonomy, validating the framework with academic rigor. Currently serving 4 diverse departments with 10+ active automation cases.</a:t>
            </a:r>
          </a:p>
          <a:p>
            <a:pPr>
              <a:spcAft>
                <a:spcPts val="600"/>
              </a:spcAft>
              <a:defRPr sz="1000">
                <a:solidFill>
                  <a:srgbClr val="9CA3AF"/>
                </a:solidFill>
              </a:defRPr>
            </a:pPr>
            <a:r>
              <a:t>• AI Simply — Founder: Productivity consulting business weaving best-in-class AI tools with custom code pipelines to automate workflows of SMEs and nonprofits, cutting tedious tasks and reclaiming hundreds of hours. Working with clients from 7 different industries.</a:t>
            </a:r>
          </a:p>
          <a:p>
            <a:pPr>
              <a:spcAft>
                <a:spcPts val="600"/>
              </a:spcAft>
              <a:defRPr sz="1000">
                <a:solidFill>
                  <a:srgbClr val="9CA3AF"/>
                </a:solidFill>
              </a:defRPr>
            </a:pPr>
            <a:r>
              <a:t>• Wisers Information Limited — AI Engineering Intern: Self-developed multi-step program scraping thousands of RedNote (小红书) posts and using LLM analysis to extract latest fashion trends and market strategies of four major sportswear brands.</a:t>
            </a:r>
          </a:p>
          <a:p>
            <a:pPr>
              <a:spcAft>
                <a:spcPts val="600"/>
              </a:spcAft>
              <a:defRPr sz="1000">
                <a:solidFill>
                  <a:srgbClr val="9CA3AF"/>
                </a:solidFill>
              </a:defRPr>
            </a:pPr>
          </a:p>
          <a:p>
            <a:pPr>
              <a:spcAft>
                <a:spcPts val="600"/>
              </a:spcAft>
              <a:defRPr sz="1100" b="1">
                <a:solidFill>
                  <a:srgbClr val="FFFFFF"/>
                </a:solidFill>
              </a:defRPr>
            </a:pPr>
            <a:r>
              <a:t>Technical Expertise: Expert in Agentic AI Workflows (Cursor + Google Antigravity) — capable of executing engineering tasks at 5x the speed of traditional developers, keeping burn rate near zero. Self-developed macOS GUI automation agents combining computer vision (YOLO + OCR) with LLM reasoning.</a:t>
            </a:r>
          </a:p>
          <a:p>
            <a:pPr>
              <a:spcAft>
                <a:spcPts val="600"/>
              </a:spcAft>
              <a:defRPr sz="1000">
                <a:solidFill>
                  <a:srgbClr val="9CA3AF"/>
                </a:solidFill>
              </a:defRPr>
            </a:pPr>
          </a:p>
          <a:p>
            <a:pPr>
              <a:spcAft>
                <a:spcPts val="600"/>
              </a:spcAft>
              <a:defRPr sz="1100" b="1">
                <a:solidFill>
                  <a:srgbClr val="FFFFFF"/>
                </a:solidFill>
              </a:defRPr>
            </a:pPr>
            <a:r>
              <a:t>The Commitment: Dedicated Gap Year (2026-2027) — 100% full-time focus on scaling the venture post-graduation, with commitment to achieving product-market fit and first revenue by Q4 2026.</a:t>
            </a:r>
          </a:p>
          <a:p>
            <a:pPr>
              <a:spcAft>
                <a:spcPts val="600"/>
              </a:spcAft>
              <a:defRPr sz="1000">
                <a:solidFill>
                  <a:srgbClr val="9CA3AF"/>
                </a:solidFill>
              </a:defRPr>
            </a:pPr>
          </a:p>
          <a:p>
            <a:pPr>
              <a:spcAft>
                <a:spcPts val="600"/>
              </a:spcAft>
              <a:defRPr sz="1100" b="1">
                <a:solidFill>
                  <a:srgbClr val="FFFFFF"/>
                </a:solidFill>
              </a:defRPr>
            </a:pPr>
            <a:r>
              <a:t>Additional Leadership: Captain of Varsity Squash Team | Tri-Varsity Athlete | SAILING Leader (Student AI Literacy Group) | Board Member, Advancement Student Board | Drummer &amp; Percussionist, Hon Contemporary Music Band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365760"/>
            <a:ext cx="8229600" cy="274320"/>
          </a:xfrm>
          <a:prstGeom prst="rect">
            <a:avLst/>
          </a:prstGeom>
          <a:noFill/>
        </p:spPr>
        <p:txBody>
          <a:bodyPr wrap="none">
            <a:spAutoFit/>
          </a:bodyPr>
          <a:lstStyle/>
          <a:p>
            <a:pPr>
              <a:defRPr sz="1100" b="1">
                <a:solidFill>
                  <a:srgbClr val="4ADE80"/>
                </a:solidFill>
              </a:defRPr>
            </a:pPr>
            <a:r>
              <a:t>WHY HKSTP</a:t>
            </a:r>
          </a:p>
        </p:txBody>
      </p:sp>
      <p:sp>
        <p:nvSpPr>
          <p:cNvPr id="3" name="TextBox 2"/>
          <p:cNvSpPr txBox="1"/>
          <p:nvPr/>
        </p:nvSpPr>
        <p:spPr>
          <a:xfrm>
            <a:off x="457200" y="731520"/>
            <a:ext cx="8229600" cy="457200"/>
          </a:xfrm>
          <a:prstGeom prst="rect">
            <a:avLst/>
          </a:prstGeom>
          <a:noFill/>
        </p:spPr>
        <p:txBody>
          <a:bodyPr wrap="none">
            <a:spAutoFit/>
          </a:bodyPr>
          <a:lstStyle/>
          <a:p>
            <a:pPr>
              <a:defRPr sz="3200" b="1">
                <a:solidFill>
                  <a:srgbClr val="FFFFFF"/>
                </a:solidFill>
              </a:defRPr>
            </a:pPr>
            <a:r>
              <a:t>Strategic Alignment &amp; Landing Plan</a:t>
            </a:r>
          </a:p>
        </p:txBody>
      </p:sp>
      <p:sp>
        <p:nvSpPr>
          <p:cNvPr id="4" name="TextBox 3"/>
          <p:cNvSpPr txBox="1"/>
          <p:nvPr/>
        </p:nvSpPr>
        <p:spPr>
          <a:xfrm>
            <a:off x="457200" y="1280160"/>
            <a:ext cx="8229600" cy="274320"/>
          </a:xfrm>
          <a:prstGeom prst="rect">
            <a:avLst/>
          </a:prstGeom>
          <a:noFill/>
        </p:spPr>
        <p:txBody>
          <a:bodyPr wrap="none">
            <a:spAutoFit/>
          </a:bodyPr>
          <a:lstStyle/>
          <a:p>
            <a:pPr>
              <a:defRPr sz="1300">
                <a:solidFill>
                  <a:srgbClr val="6B7280"/>
                </a:solidFill>
              </a:defRPr>
            </a:pPr>
            <a:r>
              <a:t>Four critical reasons: Compute, Ecosystem, Compliance, Data Partnerships</a:t>
            </a:r>
          </a:p>
        </p:txBody>
      </p:sp>
      <p:sp>
        <p:nvSpPr>
          <p:cNvPr id="5" name="TextBox 4"/>
          <p:cNvSpPr txBox="1"/>
          <p:nvPr/>
        </p:nvSpPr>
        <p:spPr>
          <a:xfrm>
            <a:off x="731520" y="1737360"/>
            <a:ext cx="7680960" cy="4572000"/>
          </a:xfrm>
          <a:prstGeom prst="rect">
            <a:avLst/>
          </a:prstGeom>
          <a:noFill/>
        </p:spPr>
        <p:txBody>
          <a:bodyPr wrap="square">
            <a:spAutoFit/>
          </a:bodyPr>
          <a:lstStyle/>
          <a:p>
            <a:pPr>
              <a:spcAft>
                <a:spcPts val="1200"/>
              </a:spcAft>
              <a:defRPr sz="1400">
                <a:solidFill>
                  <a:srgbClr val="9CA3AF"/>
                </a:solidFill>
              </a:defRPr>
            </a:pPr>
            <a:r>
              <a:t>COMPUTE INFRASTRUCTURE: Scoring 1,000+ cities daily at city and district level (12 dimensions × 1,000 cities × district subdivisions = massive GPU inference workload). We need HKSTP's supercomputing support to scale cost-effectively.</a:t>
            </a:r>
          </a:p>
          <a:p>
            <a:pPr>
              <a:spcAft>
                <a:spcPts val="1200"/>
              </a:spcAft>
              <a:defRPr sz="1400">
                <a:solidFill>
                  <a:srgbClr val="9CA3AF"/>
                </a:solidFill>
              </a:defRPr>
            </a:pPr>
            <a:r>
              <a:t>ECOSYSTEM SANDBOX: HKSTP hosts our exact target clients (Real Estate developers, Retail operators, Logistics firms, Government innovation teams). It is the ideal environment for B2B pilots and warm customer introductions.</a:t>
            </a:r>
          </a:p>
          <a:p>
            <a:pPr>
              <a:spcAft>
                <a:spcPts val="1200"/>
              </a:spcAft>
              <a:defRPr sz="1400">
                <a:solidFill>
                  <a:srgbClr val="9CA3AF"/>
                </a:solidFill>
              </a:defRPr>
            </a:pPr>
            <a:r>
              <a:t>COMPLIANCE GUIDANCE: We require mentorship on navigating Cross-Border Data Transfer regulations (PIPL/GDPR) as we expand to the GBA and globally. HKSTP's legal/regulatory support is critical for scaling responsibly.</a:t>
            </a:r>
          </a:p>
          <a:p>
            <a:pPr>
              <a:spcAft>
                <a:spcPts val="1200"/>
              </a:spcAft>
              <a:defRPr sz="1400">
                <a:solidFill>
                  <a:srgbClr val="9CA3AF"/>
                </a:solidFill>
              </a:defRPr>
            </a:pPr>
            <a:r>
              <a:t>DATA PARTNERSHIPS: Licensed API access (GDELT, NewsAPI, Reddit API, X/Twitter API, Government Open Data) — we need capital to scale data infrastructure to 380,000+ sources. HKSTP funding enables this expansion.</a:t>
            </a:r>
          </a:p>
          <a:p>
            <a:pPr>
              <a:spcAft>
                <a:spcPts val="1200"/>
              </a:spcAft>
              <a:defRPr sz="1400">
                <a:solidFill>
                  <a:srgbClr val="9CA3AF"/>
                </a:solidFill>
              </a:defRPr>
            </a:pPr>
            <a:r>
              <a:t>LANDING PLAN: Immediate: Incorporate Hong Kong entity upon acceptance. 6 months: Hire 1 Business Development Lead + 1 Data Engineer using grant funds. 12 months: First revenue (5+ pilot contracts from HKSTP ecosystem).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F14"/>
        </a:solidFill>
        <a:effectLst/>
      </p:bgPr>
    </p:bg>
    <p:spTree>
      <p:nvGrpSpPr>
        <p:cNvPr id="1" name=""/>
        <p:cNvGrpSpPr/>
        <p:nvPr/>
      </p:nvGrpSpPr>
      <p:grpSpPr/>
      <p:sp>
        <p:nvSpPr>
          <p:cNvPr id="2" name="TextBox 1"/>
          <p:cNvSpPr txBox="1"/>
          <p:nvPr/>
        </p:nvSpPr>
        <p:spPr>
          <a:xfrm>
            <a:off x="457200" y="2286000"/>
            <a:ext cx="8229600" cy="1097280"/>
          </a:xfrm>
          <a:prstGeom prst="rect">
            <a:avLst/>
          </a:prstGeom>
          <a:noFill/>
        </p:spPr>
        <p:txBody>
          <a:bodyPr wrap="none">
            <a:spAutoFit/>
          </a:bodyPr>
          <a:lstStyle/>
          <a:p>
            <a:pPr algn="ctr">
              <a:defRPr sz="4800" b="1">
                <a:solidFill>
                  <a:srgbClr val="FFFFFF"/>
                </a:solidFill>
              </a:defRPr>
            </a:pPr>
            <a:r>
              <a:t>Ready to Build the Global Standard.</a:t>
            </a:r>
          </a:p>
        </p:txBody>
      </p:sp>
      <p:sp>
        <p:nvSpPr>
          <p:cNvPr id="3" name="TextBox 2"/>
          <p:cNvSpPr txBox="1"/>
          <p:nvPr/>
        </p:nvSpPr>
        <p:spPr>
          <a:xfrm>
            <a:off x="457200" y="3474720"/>
            <a:ext cx="8229600" cy="457200"/>
          </a:xfrm>
          <a:prstGeom prst="rect">
            <a:avLst/>
          </a:prstGeom>
          <a:noFill/>
        </p:spPr>
        <p:txBody>
          <a:bodyPr wrap="none">
            <a:spAutoFit/>
          </a:bodyPr>
          <a:lstStyle/>
          <a:p>
            <a:pPr algn="ctr">
              <a:defRPr sz="2000">
                <a:solidFill>
                  <a:srgbClr val="9CA3AF"/>
                </a:solidFill>
              </a:defRPr>
            </a:pPr>
            <a:r>
              <a:t>Geo-centric location intelligence for capital allocation decisions.</a:t>
            </a:r>
          </a:p>
        </p:txBody>
      </p:sp>
      <p:sp>
        <p:nvSpPr>
          <p:cNvPr id="4" name="TextBox 3"/>
          <p:cNvSpPr txBox="1"/>
          <p:nvPr/>
        </p:nvSpPr>
        <p:spPr>
          <a:xfrm>
            <a:off x="457200" y="4114800"/>
            <a:ext cx="8229600" cy="457200"/>
          </a:xfrm>
          <a:prstGeom prst="rect">
            <a:avLst/>
          </a:prstGeom>
          <a:noFill/>
        </p:spPr>
        <p:txBody>
          <a:bodyPr wrap="none">
            <a:spAutoFit/>
          </a:bodyPr>
          <a:lstStyle/>
          <a:p>
            <a:pPr algn="ctr">
              <a:defRPr sz="1800">
                <a:solidFill>
                  <a:srgbClr val="4ADE80"/>
                </a:solidFill>
              </a:defRPr>
            </a:pPr>
            <a:r>
              <a:t>1,000+ cities. 380,000+ sources. 12 dimensions. One platform.</a:t>
            </a:r>
          </a:p>
        </p:txBody>
      </p:sp>
      <p:sp>
        <p:nvSpPr>
          <p:cNvPr id="5" name="TextBox 4"/>
          <p:cNvSpPr txBox="1"/>
          <p:nvPr/>
        </p:nvSpPr>
        <p:spPr>
          <a:xfrm>
            <a:off x="457200" y="5029200"/>
            <a:ext cx="8229600" cy="457200"/>
          </a:xfrm>
          <a:prstGeom prst="rect">
            <a:avLst/>
          </a:prstGeom>
          <a:noFill/>
        </p:spPr>
        <p:txBody>
          <a:bodyPr wrap="none">
            <a:spAutoFit/>
          </a:bodyPr>
          <a:lstStyle/>
          <a:p>
            <a:pPr algn="ctr">
              <a:defRPr sz="1600" b="1">
                <a:solidFill>
                  <a:srgbClr val="FFFFFF"/>
                </a:solidFill>
              </a:defRPr>
            </a:pPr>
            <a:r>
              <a:t>Contact: caydenauyang@gmail.com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